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217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F0FF"/>
                </a:solidFill>
                <a:latin typeface="PingFang SC" panose="020B0400000000000000" charset="-122"/>
              </a:rPr>
              <a:t>PROJECT INTRO</a:t>
            </a:r>
            <a:endParaRPr sz="15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PingFang SC" panose="020B0400000000000000" charset="-122"/>
              </a:rPr>
              <a:t>Agent Passport</a:t>
            </a:r>
            <a:endParaRPr sz="34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993392"/>
            <a:ext cx="8138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D5DDFF"/>
                </a:solidFill>
                <a:latin typeface="PingFang SC" panose="020B0400000000000000" charset="-122"/>
              </a:rPr>
              <a:t>面向 AI Agent 的身份、记忆、恢复与可信执行中枢</a:t>
            </a:r>
            <a:endParaRPr sz="2300" b="1">
              <a:solidFill>
                <a:srgbClr val="D5DDFF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926080"/>
            <a:ext cx="62179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3B1D6"/>
                </a:solidFill>
                <a:latin typeface="PingFang SC" panose="020B0400000000000000" charset="-122"/>
              </a:rPr>
              <a:t>让 AI 从临时聊天工具，升级为可长期存在、可被治理、可持续工作的数字主体。</a:t>
            </a:r>
            <a:endParaRPr sz="18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09560" y="960120"/>
            <a:ext cx="3520440" cy="4480560"/>
          </a:xfrm>
          <a:prstGeom prst="roundRect">
            <a:avLst/>
          </a:prstGeom>
          <a:solidFill>
            <a:srgbClr val="0C1228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234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0FF"/>
                </a:solidFill>
                <a:latin typeface="PingFang SC" panose="020B0400000000000000" charset="-122"/>
              </a:rPr>
              <a:t>核心判断</a:t>
            </a:r>
            <a:endParaRPr sz="18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8346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PingFang SC" panose="020B0400000000000000" charset="-122"/>
              </a:rPr>
              <a:t>未来 AI 的核心竞争力不只是“更聪明”
而是“更可信、更可持续、更可治理”</a:t>
            </a:r>
            <a:endParaRPr sz="24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3879" y="47091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A3B1D6"/>
                </a:solidFill>
                <a:latin typeface="PingFang SC" panose="020B0400000000000000" charset="-122"/>
              </a:rPr>
              <a:t>对话不是身份
恢复优先于重聊</a:t>
            </a:r>
            <a:endParaRPr sz="16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3399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为什么现在必须做 Agent Passport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AI 正在从“生成内容”转向“执行任务”，身份、记忆、权限、恢复将成为新的基础设施。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560320" cy="1769745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950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3399"/>
                </a:solidFill>
                <a:latin typeface="PingFang SC" panose="020B0400000000000000" charset="-122"/>
              </a:rPr>
              <a:t>窗口 = 身份</a:t>
            </a:r>
            <a:endParaRPr sz="25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331720" cy="9798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今天多数 AI 仍依附在会话里，切线程、换窗口、重启后就像换了一个人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2743200"/>
            <a:ext cx="2560320" cy="1769745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88950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F0FF"/>
                </a:solidFill>
                <a:latin typeface="PingFang SC" panose="020B0400000000000000" charset="-122"/>
              </a:rPr>
              <a:t>聊天 = 记忆</a:t>
            </a:r>
            <a:endParaRPr sz="25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33172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很多所谓记忆只是把更多历史塞进上下文，成本升高、质量下降、错误积累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2743200"/>
            <a:ext cx="2560320" cy="1769745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8950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66FFCC"/>
                </a:solidFill>
                <a:latin typeface="PingFang SC" panose="020B0400000000000000" charset="-122"/>
              </a:rPr>
              <a:t>自动化 = 风险</a:t>
            </a:r>
            <a:endParaRPr sz="25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3383280"/>
            <a:ext cx="233172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当 AI 开始调工具、改数据、碰资产，没有治理边界就无法真正进入业务流程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2743200"/>
            <a:ext cx="2560320" cy="1694815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84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88950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8438FF"/>
                </a:solidFill>
                <a:latin typeface="PingFang SC" panose="020B0400000000000000" charset="-122"/>
              </a:rPr>
              <a:t>崩了 = 重来</a:t>
            </a:r>
            <a:endParaRPr sz="25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0" y="3383280"/>
            <a:ext cx="233172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缺少恢复能力的 AI 无法承担长期工作，只能做一次性助手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6FFCC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Agent Passport 是什么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9953" y="1623695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它不是普通聊天机器人，而是 AI Agent 时代的“身份层 + 运行层 + 可信治理层”。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257800" cy="4160520"/>
          </a:xfrm>
          <a:prstGeom prst="roundRect">
            <a:avLst/>
          </a:prstGeom>
          <a:solidFill>
            <a:srgbClr val="091022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6FFCC"/>
                </a:solidFill>
                <a:latin typeface="PingFang SC" panose="020B0400000000000000" charset="-122"/>
              </a:rPr>
              <a:t>一句话定义</a:t>
            </a:r>
            <a:endParaRPr sz="18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48056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PingFang SC" panose="020B0400000000000000" charset="-122"/>
              </a:rPr>
              <a:t>Agent Passport 是一个让 AI Agent 拥有唯一身份、持续记忆、权限边界、可验证行为和可恢复运行能力的基础设施。</a:t>
            </a:r>
            <a:endParaRPr sz="24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5059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不是“更多 Prompt”</a:t>
            </a:r>
          </a:p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不是“更长上下文”</a:t>
            </a:r>
          </a:p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不是“单次更聪明”</a:t>
            </a:r>
          </a:p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而是“长期更稳定、更可信”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257800" cy="4160520"/>
          </a:xfrm>
          <a:prstGeom prst="roundRect">
            <a:avLst/>
          </a:prstGeom>
          <a:solidFill>
            <a:srgbClr val="0E122C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6771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0FF"/>
                </a:solidFill>
                <a:latin typeface="PingFang SC" panose="020B0400000000000000" charset="-122"/>
              </a:rPr>
              <a:t>它要替代什么旧范式</a:t>
            </a:r>
            <a:endParaRPr sz="18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3005" y="3176905"/>
            <a:ext cx="5258435" cy="183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从“对话窗口中心”升级为“身份中心”</a:t>
            </a:r>
          </a:p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从“上下文硬撑”升级为“状态重建”</a:t>
            </a:r>
          </a:p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从“黑箱自动化”升级为“可治理自动化”</a:t>
            </a:r>
          </a:p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从“回答工具”升级为“数字劳动力底座”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480" y="475615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8438FF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它解决了什么问题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490345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Agent Passport 不是做一个更会聊天的 AI，而是解决 AI 走向长期工作的底层瓶颈。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0292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1343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0FF"/>
                </a:solidFill>
                <a:latin typeface="PingFang SC" panose="020B0400000000000000" charset="-122"/>
              </a:rPr>
              <a:t>稳定身份</a:t>
            </a:r>
            <a:endParaRPr sz="20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713" y="2679573"/>
            <a:ext cx="44805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PingFang SC" panose="020B0400000000000000" charset="-122"/>
              </a:rPr>
              <a:t>关闭窗口、切换应用、重启线程之后，Agent 仍然是同一个主体。</a:t>
            </a:r>
            <a:endParaRPr sz="16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2148840"/>
            <a:ext cx="50292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31343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3399"/>
                </a:solidFill>
                <a:latin typeface="PingFang SC" panose="020B0400000000000000" charset="-122"/>
              </a:rPr>
              <a:t>可恢复记忆</a:t>
            </a:r>
            <a:endParaRPr sz="20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6248" y="2715768"/>
            <a:ext cx="44805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PingFang SC" panose="020B0400000000000000" charset="-122"/>
              </a:rPr>
              <a:t>忘了不是重来，而是先查本地纪要、结构化记忆、决策和恢复点。</a:t>
            </a:r>
            <a:endParaRPr sz="16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0292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32511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66FFCC"/>
                </a:solidFill>
                <a:latin typeface="PingFang SC" panose="020B0400000000000000" charset="-122"/>
              </a:rPr>
              <a:t>可控执行</a:t>
            </a:r>
            <a:endParaRPr sz="20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4727448"/>
            <a:ext cx="44805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PingFang SC" panose="020B0400000000000000" charset="-122"/>
              </a:rPr>
              <a:t>低风险动作快执行，高风险动作先确认，关键动作才进入冷路径治理。</a:t>
            </a:r>
            <a:endParaRPr sz="16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4160520"/>
            <a:ext cx="50292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84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432511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8438FF"/>
                </a:solidFill>
                <a:latin typeface="PingFang SC" panose="020B0400000000000000" charset="-122"/>
              </a:rPr>
              <a:t>可审计责任</a:t>
            </a:r>
            <a:endParaRPr sz="20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6248" y="4727448"/>
            <a:ext cx="44805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PingFang SC" panose="020B0400000000000000" charset="-122"/>
              </a:rPr>
              <a:t>为什么这么做、为什么被拦住、为什么需要人工接管，都能留下证据。</a:t>
            </a:r>
            <a:endParaRPr sz="16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F0FF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底层原理：五层可信架构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身份层、记忆层、上下文重建层、验证治理层、恢复层，共同把 Agent 从会话体升级为长期主体。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0332720" cy="594360"/>
          </a:xfrm>
          <a:prstGeom prst="roundRect">
            <a:avLst/>
          </a:prstGeom>
          <a:solidFill>
            <a:srgbClr val="0B1025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214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0FF"/>
                </a:solidFill>
                <a:latin typeface="PingFang SC" panose="020B0400000000000000" charset="-122"/>
              </a:rPr>
              <a:t>身份层</a:t>
            </a:r>
            <a:endParaRPr sz="18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88920" y="212140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唯一身份、分叉关系、授权关系、可验证主体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2798064"/>
            <a:ext cx="10332720" cy="594360"/>
          </a:xfrm>
          <a:prstGeom prst="roundRect">
            <a:avLst/>
          </a:prstGeom>
          <a:solidFill>
            <a:srgbClr val="0B1025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90779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3399"/>
                </a:solidFill>
                <a:latin typeface="PingFang SC" panose="020B0400000000000000" charset="-122"/>
              </a:rPr>
              <a:t>记忆层</a:t>
            </a:r>
            <a:endParaRPr sz="18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88920" y="2907792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ledger / profile / episodic / working 四层记忆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584448"/>
            <a:ext cx="10332720" cy="594360"/>
          </a:xfrm>
          <a:prstGeom prst="roundRect">
            <a:avLst/>
          </a:prstGeom>
          <a:solidFill>
            <a:srgbClr val="0B1025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9417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6FFCC"/>
                </a:solidFill>
                <a:latin typeface="PingFang SC" panose="020B0400000000000000" charset="-122"/>
              </a:rPr>
              <a:t>上下文重建层</a:t>
            </a:r>
            <a:endParaRPr sz="18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88920" y="3694176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不拼整段聊天，按任务槽位重建当前需要的上下文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4370832"/>
            <a:ext cx="10332720" cy="594360"/>
          </a:xfrm>
          <a:prstGeom prst="roundRect">
            <a:avLst/>
          </a:prstGeom>
          <a:solidFill>
            <a:srgbClr val="0B1025"/>
          </a:solidFill>
          <a:ln w="19050">
            <a:solidFill>
              <a:srgbClr val="84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480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438FF"/>
                </a:solidFill>
                <a:latin typeface="PingFang SC" panose="020B0400000000000000" charset="-122"/>
              </a:rPr>
              <a:t>验证治理层</a:t>
            </a:r>
            <a:endParaRPr sz="18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20" y="44805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模型输出必须过验证、风险分级、权限边界和必要确认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5157216"/>
            <a:ext cx="10332720" cy="594360"/>
          </a:xfrm>
          <a:prstGeom prst="roundRect">
            <a:avLst/>
          </a:prstGeom>
          <a:solidFill>
            <a:srgbClr val="0B1025"/>
          </a:solidFill>
          <a:ln w="19050">
            <a:solidFill>
              <a:srgbClr val="0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26694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82FF"/>
                </a:solidFill>
                <a:latin typeface="PingFang SC" panose="020B0400000000000000" charset="-122"/>
              </a:rPr>
              <a:t>恢复层</a:t>
            </a:r>
            <a:endParaRPr sz="1800" b="1">
              <a:solidFill>
                <a:srgbClr val="0082FF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88920" y="526694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checkpoint / boundary / recovery bundle / rehearsal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3399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941705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为什么坚持 Local-First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9953" y="159385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因为真正进入业务流程的 AI，必须先解决隐私、延迟、恢复和控制权问题。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697480" cy="141732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3399"/>
                </a:solidFill>
                <a:latin typeface="PingFang SC" panose="020B0400000000000000" charset="-122"/>
              </a:rPr>
              <a:t>隐私</a:t>
            </a:r>
            <a:endParaRPr sz="25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46888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原始记忆和高敏感状态默认不应常驻云端。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39312" y="2194560"/>
            <a:ext cx="2697480" cy="141732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2340864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F0FF"/>
                </a:solidFill>
                <a:latin typeface="PingFang SC" panose="020B0400000000000000" charset="-122"/>
              </a:rPr>
              <a:t>低延迟</a:t>
            </a:r>
            <a:endParaRPr sz="25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6472" y="2834640"/>
            <a:ext cx="246888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热路径在本地闭环，才能支撑长期使用和高频协作。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47104" y="2194560"/>
            <a:ext cx="2697480" cy="141732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4264" y="2340864"/>
            <a:ext cx="2514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66FFCC"/>
                </a:solidFill>
                <a:latin typeface="PingFang SC" panose="020B0400000000000000" charset="-122"/>
              </a:rPr>
              <a:t>可恢复</a:t>
            </a:r>
            <a:endParaRPr sz="25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0619" y="2834640"/>
            <a:ext cx="246888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失联、断电、重启、迁机之后仍能恢复运行。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54896" y="2194560"/>
            <a:ext cx="2011680" cy="141732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84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92056" y="234086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8438FF"/>
                </a:solidFill>
                <a:latin typeface="PingFang SC" panose="020B0400000000000000" charset="-122"/>
              </a:rPr>
              <a:t>控制权</a:t>
            </a:r>
            <a:endParaRPr sz="25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52381" y="2802890"/>
            <a:ext cx="178308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身份和执行边界掌握在用户和组织手里。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10744200" cy="1691640"/>
          </a:xfrm>
          <a:prstGeom prst="roundRect">
            <a:avLst/>
          </a:prstGeom>
          <a:solidFill>
            <a:srgbClr val="0A102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159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0FF"/>
                </a:solidFill>
                <a:latin typeface="PingFang SC" panose="020B0400000000000000" charset="-122"/>
              </a:rPr>
              <a:t>核心方法论</a:t>
            </a:r>
            <a:endParaRPr sz="18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4736592"/>
            <a:ext cx="101498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PingFang SC" panose="020B0400000000000000" charset="-122"/>
              </a:rPr>
              <a:t>热路径本地化，温路径做增强，冷路径做关键动作治理。不是让所有东西都上链、都多签，而是让该快的快、该稳的稳、该审计的可审计。</a:t>
            </a:r>
            <a:endParaRPr sz="2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6FFCC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626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最先落地场景：招聘与人才服务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19815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与 OpenNeed 结合时，Agent Passport 不只是一个后台组件，而是招聘场景里的身份连续性与可信协作底座。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候选人侧：唯一身份、持续记忆、长期职业画像</a:t>
            </a:r>
          </a:p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招聘顾问侧：跨岗位、跨窗口、跨线程的连续协作主体</a:t>
            </a:r>
          </a:p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企业侧：岗位 Agent、匹配 Agent、流程 Agent 的权限边界与责任链</a:t>
            </a:r>
          </a:p>
          <a:p>
            <a:pPr>
              <a:spcAft>
                <a:spcPts val="1000"/>
              </a:spcAft>
              <a:defRPr sz="22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系统侧：本地结构化处理 + 云端高质量输出的混合架构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057400"/>
            <a:ext cx="4892040" cy="3429000"/>
          </a:xfrm>
          <a:prstGeom prst="roundRect">
            <a:avLst/>
          </a:prstGeom>
          <a:solidFill>
            <a:srgbClr val="0C1228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F0FF"/>
                </a:solidFill>
                <a:latin typeface="PingFang SC" panose="020B0400000000000000" charset="-122"/>
              </a:rPr>
              <a:t>为什么这个场景特别适合</a:t>
            </a:r>
            <a:endParaRPr sz="20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1968" y="28346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招聘天然需要身份连续性</a:t>
            </a:r>
          </a:p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多 Agent 协作天然需要授权边界</a:t>
            </a:r>
          </a:p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候选人和岗位画像天然需要长期记忆</a:t>
            </a:r>
          </a:p>
          <a:p>
            <a:pPr>
              <a:spcAft>
                <a:spcPts val="1000"/>
              </a:spcAft>
              <a:defRPr sz="1800">
                <a:solidFill>
                  <a:srgbClr val="A3B1D6"/>
                </a:solidFill>
                <a:latin typeface="PingFang SC" panose="020B0400000000000000" charset="-122"/>
              </a:defRPr>
            </a:pPr>
            <a:r>
              <a:t>• 结果输出和流程执行天然需要审计和恢复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8438FF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未来使用场景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9953" y="13716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从个人超级助手到企业级 AI 工作台，Agent Passport 有机会成为长期数字主体的基础设施。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892040" cy="1417320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0F0FF"/>
                </a:solidFill>
                <a:latin typeface="PingFang SC" panose="020B0400000000000000" charset="-122"/>
              </a:rPr>
              <a:t>个人超级助手</a:t>
            </a:r>
            <a:endParaRPr sz="19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4389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一个人拥有一个长期存在的本地 Agent，跨任务、跨窗口持续协助。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2011680"/>
            <a:ext cx="4892040" cy="1417320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76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3399"/>
                </a:solidFill>
                <a:latin typeface="PingFang SC" panose="020B0400000000000000" charset="-122"/>
              </a:rPr>
              <a:t>企业私有 AI 工作台</a:t>
            </a:r>
            <a:endParaRPr sz="19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7960" y="2578608"/>
            <a:ext cx="4389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企业内部 Agent 进入真实流程前，需要身份、权限、审计和恢复底座。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4892040" cy="1417320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66FFCC"/>
                </a:solidFill>
                <a:latin typeface="PingFang SC" panose="020B0400000000000000" charset="-122"/>
              </a:rPr>
              <a:t>高价值专业服务</a:t>
            </a:r>
            <a:endParaRPr sz="19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4389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法务、财务、投研、医疗辅助等高要求场景，尤其需要可信运行。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3931920"/>
            <a:ext cx="4892040" cy="1417320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00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965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082FF"/>
                </a:solidFill>
                <a:latin typeface="PingFang SC" panose="020B0400000000000000" charset="-122"/>
              </a:rPr>
              <a:t>多设备 / 多 Agent 网络</a:t>
            </a:r>
            <a:endParaRPr sz="1900" b="1">
              <a:solidFill>
                <a:srgbClr val="0082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4498848"/>
            <a:ext cx="4389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当单机单 Agent 做稳后，可扩展为多设备同步、团队协作和协议互通。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F0FF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商业模式与变现路径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9953" y="151765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先卖真实需求，再逐步形成平台层壁垒。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74720" cy="155448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F0FF"/>
                </a:solidFill>
                <a:latin typeface="PingFang SC" panose="020B0400000000000000" charset="-122"/>
              </a:rPr>
              <a:t>软件收入</a:t>
            </a:r>
            <a:endParaRPr sz="25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246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私有部署、团队版运行时、恢复能力、安全治理、运维支持。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474720" cy="155448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3408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3399"/>
                </a:solidFill>
                <a:latin typeface="PingFang SC" panose="020B0400000000000000" charset="-122"/>
              </a:rPr>
              <a:t>平台收入</a:t>
            </a:r>
            <a:endParaRPr sz="25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2834640"/>
            <a:ext cx="3246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Agent 身份、记忆、恢复与治理中枢，服务多个上层业务 Agent。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474720" cy="1554480"/>
          </a:xfrm>
          <a:prstGeom prst="roundRect">
            <a:avLst/>
          </a:prstGeom>
          <a:solidFill>
            <a:srgbClr val="090E22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3408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66FFCC"/>
                </a:solidFill>
                <a:latin typeface="PingFang SC" panose="020B0400000000000000" charset="-122"/>
              </a:rPr>
              <a:t>生态收入</a:t>
            </a:r>
            <a:endParaRPr sz="25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83880" y="2834640"/>
            <a:ext cx="32461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PingFang SC" panose="020B0400000000000000" charset="-122"/>
              </a:rPr>
              <a:t>插件、工具接入、企业集成、审计与协作网络。</a:t>
            </a:r>
            <a:endParaRPr sz="15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4343400"/>
            <a:ext cx="10652760" cy="1325880"/>
          </a:xfrm>
          <a:prstGeom prst="roundRect">
            <a:avLst/>
          </a:prstGeom>
          <a:solidFill>
            <a:srgbClr val="0C1228"/>
          </a:solidFill>
          <a:ln w="19050">
            <a:solidFill>
              <a:srgbClr val="84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100584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F8FF"/>
                </a:solidFill>
                <a:latin typeface="PingFang SC" panose="020B0400000000000000" charset="-122"/>
              </a:rPr>
              <a:t>先不卖“全球协议幻想”，先卖“可落地的可信 Agent Runtime”。一旦真实业务在这层沉淀，平台效应和协议话语权才有意义。</a:t>
            </a:r>
            <a:endParaRPr sz="21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3399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路线图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564005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从单机单 Agent 出发，逐步走向团队协作、企业部署和多节点网络。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621792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0FF"/>
                </a:solidFill>
                <a:latin typeface="PingFang SC" panose="020B0400000000000000" charset="-122"/>
              </a:rPr>
              <a:t>Phase 1</a:t>
            </a:r>
            <a:endParaRPr sz="18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1720" y="221284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PingFang SC" panose="020B0400000000000000" charset="-122"/>
              </a:rPr>
              <a:t>单机单 Agent、本地优先、可恢复、可审计</a:t>
            </a:r>
            <a:endParaRPr sz="17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10515600" cy="621792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2724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3399"/>
                </a:solidFill>
                <a:latin typeface="PingFang SC" panose="020B0400000000000000" charset="-122"/>
              </a:rPr>
              <a:t>Phase 2</a:t>
            </a:r>
            <a:endParaRPr sz="18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312724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PingFang SC" panose="020B0400000000000000" charset="-122"/>
              </a:rPr>
              <a:t>企业内多 Agent 协作与权限治理</a:t>
            </a:r>
            <a:endParaRPr sz="17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10515600" cy="621792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4164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66FFCC"/>
                </a:solidFill>
                <a:latin typeface="PingFang SC" panose="020B0400000000000000" charset="-122"/>
              </a:rPr>
              <a:t>Phase 3</a:t>
            </a:r>
            <a:endParaRPr sz="18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404164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PingFang SC" panose="020B0400000000000000" charset="-122"/>
              </a:rPr>
              <a:t>多设备同步、备份、迁移与恢复体系</a:t>
            </a:r>
            <a:endParaRPr sz="17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10515600" cy="621792"/>
          </a:xfrm>
          <a:prstGeom prst="roundRect">
            <a:avLst/>
          </a:prstGeom>
          <a:solidFill>
            <a:srgbClr val="0A1023"/>
          </a:solidFill>
          <a:ln w="19050">
            <a:solidFill>
              <a:srgbClr val="84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956048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438FF"/>
                </a:solidFill>
                <a:latin typeface="PingFang SC" panose="020B0400000000000000" charset="-122"/>
              </a:rPr>
              <a:t>Phase 4</a:t>
            </a:r>
            <a:endParaRPr sz="1800" b="1">
              <a:solidFill>
                <a:srgbClr val="8438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1720" y="495604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PingFang SC" panose="020B0400000000000000" charset="-122"/>
              </a:rPr>
              <a:t>跨产品、跨业务的 Agent 身份互通与可信协作</a:t>
            </a:r>
            <a:endParaRPr sz="1700" b="0">
              <a:solidFill>
                <a:srgbClr val="F5F8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6FFCC"/>
                </a:solidFill>
                <a:latin typeface="PingFang SC" panose="020B0400000000000000" charset="-122"/>
              </a:rPr>
              <a:t>AGENT PASSPORT</a:t>
            </a:r>
            <a:endParaRPr sz="1600" b="1">
              <a:solidFill>
                <a:srgbClr val="66FFCC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PingFang SC" panose="020B0400000000000000" charset="-122"/>
              </a:rPr>
              <a:t>潜在壁垒</a:t>
            </a:r>
            <a:endParaRPr sz="30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9953" y="154559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3B1D6"/>
                </a:solidFill>
                <a:latin typeface="PingFang SC" panose="020B0400000000000000" charset="-122"/>
              </a:rPr>
              <a:t>真正稀缺的不是“再做一个 Agent UI”，而是形成可信 Agent 基础设施的系统能力。</a:t>
            </a:r>
            <a:endParaRPr sz="1700" b="0">
              <a:solidFill>
                <a:srgbClr val="A3B1D6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产品壁垒：身份、记忆、恢复、治理、审计不是单点功能，而是系统闭环</a:t>
            </a:r>
          </a:p>
          <a:p>
            <a:pPr>
              <a:spcAft>
                <a:spcPts val="1000"/>
              </a:spcAft>
              <a:defRPr sz="21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数据壁垒：一旦真实工作流沉淀在 Passport 中，迁移成本会快速上升</a:t>
            </a:r>
          </a:p>
          <a:p>
            <a:pPr>
              <a:spcAft>
                <a:spcPts val="1000"/>
              </a:spcAft>
              <a:defRPr sz="21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安全壁垒：可验证、可恢复、可追责能力天然更适合企业付费</a:t>
            </a:r>
          </a:p>
          <a:p>
            <a:pPr>
              <a:spcAft>
                <a:spcPts val="1000"/>
              </a:spcAft>
              <a:defRPr sz="21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生态壁垒：未来多个业务 Agent 共享同一身份与治理底座时，将形成平台效应</a:t>
            </a:r>
          </a:p>
          <a:p>
            <a:pPr>
              <a:spcAft>
                <a:spcPts val="1000"/>
              </a:spcAft>
              <a:defRPr sz="2100">
                <a:solidFill>
                  <a:srgbClr val="F5F8FF"/>
                </a:solidFill>
                <a:latin typeface="PingFang SC" panose="020B0400000000000000" charset="-122"/>
              </a:defRPr>
            </a:pPr>
            <a:r>
              <a:t>• 战略壁垒：占位“长期数字主体”这一新对象，而不是继续卷单次模型输出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3399"/>
                </a:solidFill>
                <a:latin typeface="PingFang SC" panose="020B0400000000000000" charset="-122"/>
              </a:rPr>
              <a:t>FINAL MESSAGE</a:t>
            </a:r>
            <a:endParaRPr sz="1500" b="1">
              <a:solidFill>
                <a:srgbClr val="FF3399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8FF"/>
                </a:solidFill>
                <a:latin typeface="PingFang SC" panose="020B0400000000000000" charset="-122"/>
              </a:rPr>
              <a:t>下一代 AI 的关键，不是“更会聊天”。</a:t>
            </a:r>
            <a:endParaRPr sz="31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5F8FF"/>
                </a:solidFill>
                <a:latin typeface="PingFang SC" panose="020B0400000000000000" charset="-122"/>
              </a:rPr>
              <a:t>而是第一次拥有“像主体一样长期存在和工作”的能力。</a:t>
            </a:r>
            <a:endParaRPr sz="3100" b="1">
              <a:solidFill>
                <a:srgbClr val="F5F8FF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98480" cy="1325880"/>
          </a:xfrm>
          <a:prstGeom prst="roundRect">
            <a:avLst/>
          </a:prstGeom>
          <a:solidFill>
            <a:srgbClr val="0B1228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0355" y="3931920"/>
            <a:ext cx="830770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F0FF"/>
                </a:solidFill>
                <a:latin typeface="PingFang SC" panose="020B0400000000000000" charset="-122"/>
              </a:rPr>
              <a:t>Agent Passport 想做的，就是这个时代的 Agent 身份层、记忆层和可信运行底座。</a:t>
            </a:r>
            <a:endParaRPr sz="2400" b="1">
              <a:solidFill>
                <a:srgbClr val="00F0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A3B1D6"/>
                </a:solidFill>
                <a:latin typeface="PingFang SC" panose="020B0400000000000000" charset="-122"/>
              </a:rPr>
              <a:t>Agent Passport · Investor Deck</a:t>
            </a:r>
            <a:endParaRPr sz="1300" b="1">
              <a:solidFill>
                <a:srgbClr val="A3B1D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2632</Words>
  <Application>WPS 演示</Application>
  <PresentationFormat>On-screen Show (4:3)</PresentationFormat>
  <Paragraphs>236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黄宇豪</cp:lastModifiedBy>
  <cp:revision>2</cp:revision>
  <dcterms:created xsi:type="dcterms:W3CDTF">2026-04-06T15:18:43Z</dcterms:created>
  <dcterms:modified xsi:type="dcterms:W3CDTF">2026-04-06T15:18:43Z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34C4F28EFFBABF53D3CED369E54B3111_42</vt:lpwstr>
  </property>
</Properties>
</file>